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Sonata Knowledge Assistant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000" b="0">
                <a:solidFill>
                  <a:srgbClr val="D5E1F3"/>
                </a:solidFill>
                <a:latin typeface="Calibri"/>
              </a:rPr>
              <a:t>A citation-grounded answer engine for Sonata functional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1">
                <a:solidFill>
                  <a:srgbClr val="EB6834"/>
                </a:solidFill>
                <a:latin typeface="Calibri"/>
              </a:rPr>
              <a:t>Budget proposal · Phase 1 — Functional Knowledge 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2487168" cy="1051560"/>
          </a:xfrm>
          <a:prstGeom prst="roundRect">
            <a:avLst>
              <a:gd name="adj" fmla="val 9000"/>
            </a:avLst>
          </a:prstGeom>
          <a:solidFill>
            <a:srgbClr val="1A5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306824"/>
            <a:ext cx="2157984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27/27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>
                <a:solidFill>
                  <a:srgbClr val="CFDDF2"/>
                </a:solidFill>
                <a:latin typeface="Calibri"/>
              </a:rPr>
              <a:t>eval questions correct (100%)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160520"/>
            <a:ext cx="2487168" cy="1051560"/>
          </a:xfrm>
          <a:prstGeom prst="roundRect">
            <a:avLst>
              <a:gd name="adj" fmla="val 9000"/>
            </a:avLst>
          </a:prstGeom>
          <a:solidFill>
            <a:srgbClr val="1A5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4306824"/>
            <a:ext cx="2157984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100%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>
                <a:solidFill>
                  <a:srgbClr val="CFDDF2"/>
                </a:solidFill>
                <a:latin typeface="Calibri"/>
              </a:rPr>
              <a:t>answers carried accurate citations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160520"/>
            <a:ext cx="2487168" cy="1051560"/>
          </a:xfrm>
          <a:prstGeom prst="roundRect">
            <a:avLst>
              <a:gd name="adj" fmla="val 9000"/>
            </a:avLst>
          </a:prstGeom>
          <a:solidFill>
            <a:srgbClr val="1A5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4306824"/>
            <a:ext cx="2157984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8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>
                <a:solidFill>
                  <a:srgbClr val="CFDDF2"/>
                </a:solidFill>
                <a:latin typeface="Calibri"/>
              </a:rPr>
              <a:t>live demo questions in ~30s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4160520"/>
            <a:ext cx="2487168" cy="1051560"/>
          </a:xfrm>
          <a:prstGeom prst="roundRect">
            <a:avLst>
              <a:gd name="adj" fmla="val 9000"/>
            </a:avLst>
          </a:prstGeom>
          <a:solidFill>
            <a:srgbClr val="1A5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2832" y="4306824"/>
            <a:ext cx="2157984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~$0.11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>
                <a:solidFill>
                  <a:srgbClr val="CFDDF2"/>
                </a:solidFill>
                <a:latin typeface="Calibri"/>
              </a:rPr>
              <a:t>API cost per question (measured)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0">
                <a:solidFill>
                  <a:srgbClr val="BFCEE8"/>
                </a:solidFill>
                <a:latin typeface="Calibri"/>
              </a:rPr>
              <a:t>Pilot complete · SME sign-off obtained · built on Bravura's own Wiki + Jira · read-only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b="1">
                <a:solidFill>
                  <a:srgbClr val="104281"/>
                </a:solidFill>
                <a:latin typeface="Calibri"/>
              </a:rPr>
              <a:t>The problem we are trying to 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170432"/>
            <a:ext cx="237744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Calibri"/>
              </a:rPr>
              <a:t>Sonata Knowledge Assistant · Phase 1 budget proposal ·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9728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▪  </a:t>
            </a:r>
            <a:r>
              <a:rPr sz="1600" b="0">
                <a:solidFill>
                  <a:srgbClr val="0B0B0B"/>
                </a:solidFill>
                <a:latin typeface="Calibri"/>
              </a:rPr>
              <a:t>Functional questions about Sonata — "how does X work?", "what changed in v16.2?" — are answered today by manually searching Wiki + Jira, or by asking the team.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▪  </a:t>
            </a:r>
            <a:r>
              <a:rPr sz="1600" b="1">
                <a:solidFill>
                  <a:srgbClr val="0B0B0B"/>
                </a:solidFill>
                <a:latin typeface="Calibri"/>
              </a:rPr>
              <a:t>Slow and inconsistent: </a:t>
            </a:r>
            <a:r>
              <a:rPr sz="1600" b="0">
                <a:solidFill>
                  <a:srgbClr val="0B0B0B"/>
                </a:solidFill>
                <a:latin typeface="Calibri"/>
              </a:rPr>
              <a:t>answers depend on who you ask and what they remember; knowledge lives in people's heads and scattered tickets.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▪  </a:t>
            </a:r>
            <a:r>
              <a:rPr sz="1600" b="1">
                <a:solidFill>
                  <a:srgbClr val="0B0B0B"/>
                </a:solidFill>
                <a:latin typeface="Calibri"/>
              </a:rPr>
              <a:t>No single trusted source: </a:t>
            </a:r>
            <a:r>
              <a:rPr sz="1600" b="0">
                <a:solidFill>
                  <a:srgbClr val="0B0B0B"/>
                </a:solidFill>
                <a:latin typeface="Calibri"/>
              </a:rPr>
              <a:t>the same question gets different answers; undocumented behaviour is only discovered the hard way.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▪  </a:t>
            </a:r>
            <a:r>
              <a:rPr sz="1600" b="1">
                <a:solidFill>
                  <a:srgbClr val="0B0B0B"/>
                </a:solidFill>
                <a:latin typeface="Calibri"/>
              </a:rPr>
              <a:t>Repeat questions burn SME time: </a:t>
            </a:r>
            <a:r>
              <a:rPr sz="1600" b="0">
                <a:solidFill>
                  <a:srgbClr val="0B0B0B"/>
                </a:solidFill>
                <a:latin typeface="Calibri"/>
              </a:rPr>
              <a:t>support, servicedesk and BAs re-ask the same things instead of self-serving.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▪  </a:t>
            </a:r>
            <a:r>
              <a:rPr sz="1600" b="1">
                <a:solidFill>
                  <a:srgbClr val="0B0B0B"/>
                </a:solidFill>
                <a:latin typeface="Calibri"/>
              </a:rPr>
              <a:t>Upgrade-impact questions are the hardest: </a:t>
            </a:r>
            <a:r>
              <a:rPr sz="1600" b="0">
                <a:solidFill>
                  <a:srgbClr val="0B0B0B"/>
                </a:solidFill>
                <a:latin typeface="Calibri"/>
              </a:rPr>
              <a:t>"which clients are affected by this change?" takes days of manual cross-referencing — and that needs this corpus as a foundation.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12080"/>
            <a:ext cx="10972800" cy="822960"/>
          </a:xfrm>
          <a:prstGeom prst="roundRect">
            <a:avLst>
              <a:gd name="adj" fmla="val 12000"/>
            </a:avLst>
          </a:prstGeom>
          <a:solidFill>
            <a:srgbClr val="E4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766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00" b="1">
                <a:solidFill>
                  <a:srgbClr val="104281"/>
                </a:solidFill>
                <a:latin typeface="Calibri"/>
              </a:rPr>
              <a:t>Goal: </a:t>
            </a:r>
            <a:r>
              <a:rPr sz="1600" b="0">
                <a:solidFill>
                  <a:srgbClr val="0B0B0B"/>
                </a:solidFill>
                <a:latin typeface="Calibri"/>
              </a:rPr>
              <a:t>make every Sonata functional answer fast, consistent, and traceable to a source — then build the data layer upgrade impact needs.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b="1">
                <a:solidFill>
                  <a:srgbClr val="104281"/>
                </a:solidFill>
                <a:latin typeface="Calibri"/>
              </a:rPr>
              <a:t>What Sonata Knowledge Assistant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170432"/>
            <a:ext cx="237744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Calibri"/>
              </a:rPr>
              <a:t>Sonata Knowledge Assistant · Phase 1 budget proposal ·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A chat assistant that answers Sonata functional questions, grounded in Bravura's own Wiki + Jira — </a:t>
            </a:r>
            <a:r>
              <a:rPr sz="1600" b="1">
                <a:solidFill>
                  <a:srgbClr val="0B0B0B"/>
                </a:solidFill>
                <a:latin typeface="Calibri"/>
              </a:rPr>
              <a:t>never from the model's memory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548640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128016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2679192"/>
            <a:ext cx="4937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Citations on every answer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Each answer names its source — a Wiki page/section or a Jira key — so you can open it and verify.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2514600"/>
            <a:ext cx="548640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2514600"/>
            <a:ext cx="128016" cy="13716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679192"/>
            <a:ext cx="4937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Read-only by design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Never writes back to Wiki, Jira, Bitbucket or X-ray. Outputs are drafts for human review.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548640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069080"/>
            <a:ext cx="128016" cy="13716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19" y="4233672"/>
            <a:ext cx="4937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Honest when it doesn't know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If retrieval finds nothing relevant, it says so plainly instead of guessing.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4069080"/>
            <a:ext cx="548640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4069080"/>
            <a:ext cx="128016" cy="1371600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233672"/>
            <a:ext cx="4937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Scales from pilot to product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Proven on one feature; Phase 1 extends it to all modules — the foundation for upgrade impact (Phase 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b="1">
                <a:solidFill>
                  <a:srgbClr val="104281"/>
                </a:solidFill>
                <a:latin typeface="Calibri"/>
              </a:rPr>
              <a:t>How it works — the trusted-answer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170432"/>
            <a:ext cx="237744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Calibri"/>
              </a:rPr>
              <a:t>Sonata Knowledge Assistant · Phase 1 budget proposal ·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48840"/>
            <a:ext cx="246888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148840"/>
            <a:ext cx="2468880" cy="1005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423160"/>
            <a:ext cx="2103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1 · Ingest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Read-only pull of Wiki pages + Jira tickets; split into sections/chunks.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08960" y="3067812"/>
            <a:ext cx="237744" cy="310896"/>
          </a:xfrm>
          <a:prstGeom prst="rightArrow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9856" y="2148840"/>
            <a:ext cx="246888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9856" y="2148840"/>
            <a:ext cx="2468880" cy="10058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2423160"/>
            <a:ext cx="2103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2 · Index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Chunks embedded + keyword-indexed in a retrieval store.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1888" y="3067812"/>
            <a:ext cx="237744" cy="310896"/>
          </a:xfrm>
          <a:prstGeom prst="rightArrow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2148840"/>
            <a:ext cx="246888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2148840"/>
            <a:ext cx="2468880" cy="10058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2423160"/>
            <a:ext cx="2103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3 · Retrieve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Question → most relevant chunks found (semantic + keyword hybrid).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14816" y="3067812"/>
            <a:ext cx="237744" cy="310896"/>
          </a:xfrm>
          <a:prstGeom prst="rightArrow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25711" y="2148840"/>
            <a:ext cx="246888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25711" y="2148840"/>
            <a:ext cx="2468880" cy="100584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1" y="2423160"/>
            <a:ext cx="2103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4 · Answer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Model composes the answer from those chunks only, with inline citations.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09160"/>
            <a:ext cx="10972800" cy="960120"/>
          </a:xfrm>
          <a:prstGeom prst="roundRect">
            <a:avLst>
              <a:gd name="adj" fmla="val 10000"/>
            </a:avLst>
          </a:prstGeom>
          <a:solidFill>
            <a:srgbClr val="E4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8646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00" b="1">
                <a:solidFill>
                  <a:srgbClr val="104281"/>
                </a:solidFill>
                <a:latin typeface="Calibri"/>
              </a:rPr>
              <a:t>The rule that makes it trustworthy: </a:t>
            </a:r>
            <a:r>
              <a:rPr sz="1600" b="0">
                <a:solidFill>
                  <a:srgbClr val="0B0B0B"/>
                </a:solidFill>
                <a:latin typeface="Calibri"/>
              </a:rPr>
              <a:t>if retrieval returns nothing relevant, the assistant says so — it does not fall back to general knowledge about Sonata.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b="1">
                <a:solidFill>
                  <a:srgbClr val="104281"/>
                </a:solidFill>
                <a:latin typeface="Calibri"/>
              </a:rPr>
              <a:t>Proof it works — the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170432"/>
            <a:ext cx="237744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Calibri"/>
              </a:rPr>
              <a:t>Sonata Knowledge Assistant · Phase 1 budget proposal ·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2487168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2487168" cy="10058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709928"/>
            <a:ext cx="20848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1">
                <a:solidFill>
                  <a:srgbClr val="1BAF7A"/>
                </a:solidFill>
                <a:latin typeface="Calibri"/>
              </a:rPr>
              <a:t>27/27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eval questions correct (100%)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417320"/>
            <a:ext cx="2487168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17320"/>
            <a:ext cx="2487168" cy="1005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709928"/>
            <a:ext cx="20848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1">
                <a:solidFill>
                  <a:srgbClr val="2A78D6"/>
                </a:solidFill>
                <a:latin typeface="Calibri"/>
              </a:rPr>
              <a:t>100%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answers carried accurate citations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417320"/>
            <a:ext cx="2487168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1417320"/>
            <a:ext cx="2487168" cy="10058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1709928"/>
            <a:ext cx="20848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1">
                <a:solidFill>
                  <a:srgbClr val="EB6834"/>
                </a:solidFill>
                <a:latin typeface="Calibri"/>
              </a:rPr>
              <a:t>8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live demo questions in ~30s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1417320"/>
            <a:ext cx="2487168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95360" y="1417320"/>
            <a:ext cx="2487168" cy="100584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1709928"/>
            <a:ext cx="20848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1">
                <a:solidFill>
                  <a:srgbClr val="EDA100"/>
                </a:solidFill>
                <a:latin typeface="Calibri"/>
              </a:rPr>
              <a:t>~$0.11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API cost per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1">
                <a:solidFill>
                  <a:srgbClr val="52514E"/>
                </a:solidFill>
                <a:latin typeface="Calibri"/>
              </a:rPr>
              <a:t>Example answers from the live demo (every one graded Correct by SME Pratigya, with the source cited):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15468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2461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>
                <a:solidFill>
                  <a:srgbClr val="104281"/>
                </a:solidFill>
                <a:latin typeface="Calibri"/>
              </a:rPr>
              <a:t>Q:  What is the default number of results per page if pagingRange is not supplied?   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>
                <a:solidFill>
                  <a:srgbClr val="0B0B0B"/>
                </a:solidFill>
                <a:latin typeface="Calibri"/>
              </a:rPr>
              <a:t>A:  20 results per page, starting at result index 1.  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>
                <a:solidFill>
                  <a:srgbClr val="898781"/>
                </a:solidFill>
                <a:latin typeface="Calibri"/>
              </a:rPr>
              <a:t>  Wiki: RLSI-6059 § SFC-04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87368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178808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>
                <a:solidFill>
                  <a:srgbClr val="104281"/>
                </a:solidFill>
                <a:latin typeface="Calibri"/>
              </a:rPr>
              <a:t>Q:  Does the searchEmployer pagination change return Employer External References?   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>
                <a:solidFill>
                  <a:srgbClr val="0B0B0B"/>
                </a:solidFill>
                <a:latin typeface="Calibri"/>
              </a:rPr>
              <a:t>A:  No — returning external references was dropped from scope (struck through in the design).  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>
                <a:solidFill>
                  <a:srgbClr val="898781"/>
                </a:solidFill>
                <a:latin typeface="Calibri"/>
              </a:rPr>
              <a:t>  Wiki: RLSI-6059 § Out of Scope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020056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111496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>
                <a:solidFill>
                  <a:srgbClr val="104281"/>
                </a:solidFill>
                <a:latin typeface="Calibri"/>
              </a:rPr>
              <a:t>Q:  What exception does BASE-460272 report during CreateEmployerAccount?   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>
                <a:solidFill>
                  <a:srgbClr val="0B0B0B"/>
                </a:solidFill>
                <a:latin typeface="Calibri"/>
              </a:rPr>
              <a:t>A:  HTTP 500 SOAP fault rooted in java.lang.StackOverflowError in EmployersearchDO#retrieve().  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>
                <a:solidFill>
                  <a:srgbClr val="898781"/>
                </a:solidFill>
                <a:latin typeface="Calibri"/>
              </a:rPr>
              <a:t>  Jira: BASE-460272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b="1">
                <a:solidFill>
                  <a:srgbClr val="104281"/>
                </a:solidFill>
                <a:latin typeface="Calibri"/>
              </a:rPr>
              <a:t>Why it matters —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170432"/>
            <a:ext cx="237744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Calibri"/>
              </a:rPr>
              <a:t>Sonata Knowledge Assistant · Phase 1 budget proposal ·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10972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128016" cy="8412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73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Faster, self-serve answers  —  </a:t>
            </a:r>
            <a:r>
              <a:rPr sz="1350" b="0">
                <a:solidFill>
                  <a:srgbClr val="52514E"/>
                </a:solidFill>
                <a:latin typeface="Calibri"/>
              </a:rPr>
              <a:t>Support, servicedesk and BAs answer functional questions across all modules without digging through Wiki + Jira or waiting on SMEs.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23744"/>
            <a:ext cx="10972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23744"/>
            <a:ext cx="128016" cy="84124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42615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One trusted, verifiable source  —  </a:t>
            </a:r>
            <a:r>
              <a:rPr sz="1350" b="0">
                <a:solidFill>
                  <a:srgbClr val="52514E"/>
                </a:solidFill>
                <a:latin typeface="Calibri"/>
              </a:rPr>
              <a:t>Every answer is traceable to a specific wiki section or Jira key — the trust foundation for anything client-facing later.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93008"/>
            <a:ext cx="10972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493008"/>
            <a:ext cx="128016" cy="8412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1188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Surfaces documentation debt  —  </a:t>
            </a:r>
            <a:r>
              <a:rPr sz="1350" b="0">
                <a:solidFill>
                  <a:srgbClr val="52514E"/>
                </a:solidFill>
                <a:latin typeface="Calibri"/>
              </a:rPr>
              <a:t>Reveals which modules are well-documented and which aren't — a concrete roadmap for improving the source docs.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62272"/>
            <a:ext cx="10972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462272"/>
            <a:ext cx="128016" cy="8412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81144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Measurable quality baseline  —  </a:t>
            </a:r>
            <a:r>
              <a:rPr sz="1350" b="0">
                <a:solidFill>
                  <a:srgbClr val="52514E"/>
                </a:solidFill>
                <a:latin typeface="Calibri"/>
              </a:rPr>
              <a:t>Thumbs up/down feedback and an "I don't know" escalation rate give a tracked quality metric, not assumptions.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431536"/>
            <a:ext cx="10972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431536"/>
            <a:ext cx="128016" cy="841248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55040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Unlocks upgrade impact assessment  —  </a:t>
            </a:r>
            <a:r>
              <a:rPr sz="1350" b="0">
                <a:solidFill>
                  <a:srgbClr val="52514E"/>
                </a:solidFill>
                <a:latin typeface="Calibri"/>
              </a:rPr>
              <a:t>Phase 3 (which clients are affected by a version change) needs this full indexed history — the single biggest downstream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b="1">
                <a:solidFill>
                  <a:srgbClr val="104281"/>
                </a:solidFill>
                <a:latin typeface="Calibri"/>
              </a:rPr>
              <a:t>Architecture — layered, read-only, extensible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170432"/>
            <a:ext cx="237744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Calibri"/>
              </a:rPr>
              <a:t>Sonata Knowledge Assistant · Phase 1 budget proposal ·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1097280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2286000" cy="841248"/>
          </a:xfrm>
          <a:prstGeom prst="roundRect">
            <a:avLst>
              <a:gd name="adj" fmla="val 9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28216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655063"/>
            <a:ext cx="8321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>
                <a:solidFill>
                  <a:srgbClr val="0B0B0B"/>
                </a:solidFill>
                <a:latin typeface="Calibri"/>
              </a:rPr>
              <a:t>Chat (web / Teams / Slack) · voice later (Phase 4) — thin presentation, no knowledge logic.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32304"/>
            <a:ext cx="1097280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2286000" cy="841248"/>
          </a:xfrm>
          <a:prstGeom prst="roundRect">
            <a:avLst>
              <a:gd name="adj" fmla="val 9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5176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578608"/>
            <a:ext cx="8321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>
                <a:solidFill>
                  <a:srgbClr val="0B0B0B"/>
                </a:solidFill>
                <a:latin typeface="Calibri"/>
              </a:rPr>
              <a:t>Intent routing (functional Q&amp;A vs version-diff vs impact), conversation memory, citation enforcement.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55848"/>
            <a:ext cx="1097280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355848"/>
            <a:ext cx="2286000" cy="841248"/>
          </a:xfrm>
          <a:prstGeom prst="roundRect">
            <a:avLst>
              <a:gd name="adj" fmla="val 9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575304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502152"/>
            <a:ext cx="8321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>
                <a:solidFill>
                  <a:srgbClr val="0B0B0B"/>
                </a:solidFill>
                <a:latin typeface="Calibri"/>
              </a:rPr>
              <a:t>Hybrid search — semantic + keyword + metadata filters — with per-source retrievers (Wiki/Jira/Bitbucket/X-ray).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79392"/>
            <a:ext cx="1097280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279392"/>
            <a:ext cx="2286000" cy="841248"/>
          </a:xfrm>
          <a:prstGeom prst="roundRect">
            <a:avLst>
              <a:gd name="adj" fmla="val 9000"/>
            </a:avLst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98848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Knowledge &amp; 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4425696"/>
            <a:ext cx="8321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>
                <a:solidFill>
                  <a:srgbClr val="0B0B0B"/>
                </a:solidFill>
                <a:latin typeface="Calibri"/>
              </a:rPr>
              <a:t>Chunked, embedded docs per source + entity graph: Feature ↔ Wiki ↔ Jira ↔ code ↔ test ↔ release version.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02936"/>
            <a:ext cx="1097280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5202936"/>
            <a:ext cx="2286000" cy="841248"/>
          </a:xfrm>
          <a:prstGeom prst="roundRect">
            <a:avLst>
              <a:gd name="adj" fmla="val 9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22392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Ingestion (read-only)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5349240"/>
            <a:ext cx="8321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>
                <a:solidFill>
                  <a:srgbClr val="0B0B0B"/>
                </a:solidFill>
                <a:latin typeface="Calibri"/>
              </a:rPr>
              <a:t>Connectors to Confluence (Wiki) and Jira APIs — pull only, never write back.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989320"/>
            <a:ext cx="10972800" cy="502920"/>
          </a:xfrm>
          <a:prstGeom prst="roundRect">
            <a:avLst>
              <a:gd name="adj" fmla="val 14000"/>
            </a:avLst>
          </a:prstGeom>
          <a:solidFill>
            <a:srgbClr val="E4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610819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1">
                <a:solidFill>
                  <a:srgbClr val="104281"/>
                </a:solidFill>
                <a:latin typeface="Calibri"/>
              </a:rPr>
              <a:t>Read-only against all source systems — nothing is ever written 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b="1">
                <a:solidFill>
                  <a:srgbClr val="104281"/>
                </a:solidFill>
                <a:latin typeface="Calibri"/>
              </a:rPr>
              <a:t>Technology stack — proven, low-friction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170432"/>
            <a:ext cx="237744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Calibri"/>
              </a:rPr>
              <a:t>Sonata Knowledge Assistant · Phase 1 budget proposal ·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63040"/>
          <a:ext cx="10972800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76809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109728" marR="73152" marT="27432" marB="27432" anchor="ctr">
                    <a:solidFill>
                      <a:srgbClr val="10428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 marL="109728" marR="73152" marT="27432" marB="27432" anchor="ctr">
                    <a:solidFill>
                      <a:srgbClr val="10428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LLM / orchestration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Anthropic Claude (tool-use) with prompt caching — the POC already runs on it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Retrieval</a:t>
                      </a:r>
                    </a:p>
                  </a:txBody>
                  <a:tcPr marL="109728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Hybrid search: semantic + keyword; local index today, pluggable vector store (use an existing org license)</a:t>
                      </a:r>
                    </a:p>
                  </a:txBody>
                  <a:tcPr marL="109728" marR="73152" marT="27432" marB="27432" anchor="ctr">
                    <a:solidFill>
                      <a:srgbClr val="F2F3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Data connectors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Confluence (Wiki) API · Jira API — read-only, citation metadata preserved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Ingestion &amp; chunking</a:t>
                      </a:r>
                    </a:p>
                  </a:txBody>
                  <a:tcPr marL="109728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Python — wiki/Jira ingestion scripts, section-aware chunking</a:t>
                      </a:r>
                    </a:p>
                  </a:txBody>
                  <a:tcPr marL="109728" marR="73152" marT="27432" marB="27432" anchor="ctr">
                    <a:solidFill>
                      <a:srgbClr val="F2F3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Interface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Simple internal web chat (no auth complexity for now); voice in Phase 4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Phase 2 additions</a:t>
                      </a:r>
                    </a:p>
                  </a:txBody>
                  <a:tcPr marL="109728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Bitbucket (code) + X-ray (tests) connectors — same pattern</a:t>
                      </a:r>
                    </a:p>
                  </a:txBody>
                  <a:tcPr marL="109728" marR="73152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1206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No new procurement needed: </a:t>
            </a:r>
            <a:r>
              <a:rPr sz="1600" b="0">
                <a:solidFill>
                  <a:srgbClr val="0B0B0B"/>
                </a:solidFill>
                <a:latin typeface="Calibri"/>
              </a:rPr>
              <a:t>the stack builds on APIs Bravura already has and an LLM service already in use. Deployment stays internal — no client-facing exposure in this phase.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b="1">
                <a:solidFill>
                  <a:srgbClr val="104281"/>
                </a:solidFill>
                <a:latin typeface="Calibri"/>
              </a:rPr>
              <a:t>Roadmap — what this unlocks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170432"/>
            <a:ext cx="237744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Calibri"/>
              </a:rPr>
              <a:t>Sonata Knowledge Assistant · Phase 1 budget proposal ·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9728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786384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609344"/>
            <a:ext cx="1051560" cy="457200"/>
          </a:xfrm>
          <a:prstGeom prst="roundRect">
            <a:avLst>
              <a:gd name="adj" fmla="val 30000"/>
            </a:avLst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709928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581912"/>
            <a:ext cx="9235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Phase 0 — POC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  ·  One feature · citations proven · SME sign-off obtained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359152"/>
            <a:ext cx="109728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359152"/>
            <a:ext cx="128016" cy="7863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" y="2505456"/>
            <a:ext cx="1051560" cy="457200"/>
          </a:xfrm>
          <a:prstGeom prst="roundRect">
            <a:avLst>
              <a:gd name="adj" fmla="val 3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60604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478024"/>
            <a:ext cx="9235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Phase 1 — Functional KB (this proposal)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  ·  Full Wiki + Jira · all modules · 100+ question eval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55264"/>
            <a:ext cx="109728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255264"/>
            <a:ext cx="128016" cy="786384"/>
          </a:xfrm>
          <a:prstGeom prst="rect">
            <a:avLst/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2" y="3401568"/>
            <a:ext cx="1051560" cy="457200"/>
          </a:xfrm>
          <a:prstGeom prst="roundRect">
            <a:avLst>
              <a:gd name="adj" fmla="val 30000"/>
            </a:avLst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50215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374136"/>
            <a:ext cx="9235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Phase 2 — Code + test layer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  ·  Bitbucket PRs + X-ray tests, linked into the graph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151376"/>
            <a:ext cx="109728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151376"/>
            <a:ext cx="128016" cy="78638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6112" y="4297680"/>
            <a:ext cx="1051560" cy="457200"/>
          </a:xfrm>
          <a:prstGeom prst="roundRect">
            <a:avLst>
              <a:gd name="adj" fmla="val 3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398264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goal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270248"/>
            <a:ext cx="9235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Phase 3 — Upgrade Impact Assistant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  ·  Version-diff, client profiles, impact/risk reports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047488"/>
            <a:ext cx="109728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5047488"/>
            <a:ext cx="128016" cy="786384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6112" y="5193792"/>
            <a:ext cx="1051560" cy="457200"/>
          </a:xfrm>
          <a:prstGeom prst="roundRect">
            <a:avLst>
              <a:gd name="adj" fmla="val 30000"/>
            </a:avLst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294375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5166359"/>
            <a:ext cx="9235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Phase 4+ — Voice · hardening · continuous improvement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  ·  STT/TTS interface · access control · gap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1">
                <a:solidFill>
                  <a:srgbClr val="104281"/>
                </a:solidFill>
                <a:latin typeface="Calibri"/>
              </a:rPr>
              <a:t>Phases 2 and 3 build directly on the Phase 1 corpus — this proposal is the foundation for the highest-value outcome (upgrade impact).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b="1">
                <a:solidFill>
                  <a:srgbClr val="104281"/>
                </a:solidFill>
                <a:latin typeface="Calibri"/>
              </a:rPr>
              <a:t>Cost — small and mostly people-time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170432"/>
            <a:ext cx="237744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Calibri"/>
              </a:rPr>
              <a:t>Sonata Knowledge Assistant · Phase 1 budget proposal ·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5394960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5394960" cy="100584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755648"/>
            <a:ext cx="49926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800" b="1">
                <a:solidFill>
                  <a:srgbClr val="104281"/>
                </a:solidFill>
                <a:latin typeface="Calibri"/>
              </a:rPr>
              <a:t>6–8 weeks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Phase 1 effort · ~1 engineer + part-time SME/BA (per roadmap)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63040"/>
            <a:ext cx="5349240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349240" cy="10058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755648"/>
            <a:ext cx="494690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800" b="1">
                <a:solidFill>
                  <a:srgbClr val="EB6834"/>
                </a:solidFill>
                <a:latin typeface="Calibri"/>
              </a:rPr>
              <a:t>~$0.11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API cost per question — measured in the pilot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3017520"/>
          <a:ext cx="10972800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69494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Cost item</a:t>
                      </a:r>
                    </a:p>
                  </a:txBody>
                  <a:tcPr marL="109728" marR="73152" marT="27432" marB="27432" anchor="ctr">
                    <a:solidFill>
                      <a:srgbClr val="10428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 marL="109728" marR="73152" marT="27432" marB="27432" anchor="ctr">
                    <a:solidFill>
                      <a:srgbClr val="10428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API — one-time eval &amp; tuning (100+ questions, several passes)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~$50–150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API — ongoing live usage (50–100 internal questions/day)</a:t>
                      </a:r>
                    </a:p>
                  </a:txBody>
                  <a:tcPr marL="109728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~$100–250 / month</a:t>
                      </a:r>
                    </a:p>
                  </a:txBody>
                  <a:tcPr marL="109728" marR="73152" marT="27432" marB="27432" anchor="ctr">
                    <a:solidFill>
                      <a:srgbClr val="F2F3F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API — indexing the corpus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~$0 today (local index); optional paid vector store later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Effort — the real cost</a:t>
                      </a:r>
                    </a:p>
                  </a:txBody>
                  <a:tcPr marL="109728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</a:rPr>
                        <a:t>~6–8 weeks: 1 engineer + part-time SME/BA for taxonomy &amp; grading</a:t>
                      </a:r>
                    </a:p>
                  </a:txBody>
                  <a:tcPr marL="109728" marR="73152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0080" y="51206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Bottom line: </a:t>
            </a:r>
            <a:r>
              <a:rPr sz="1600" b="0">
                <a:solidFill>
                  <a:srgbClr val="0B0B0B"/>
                </a:solidFill>
                <a:latin typeface="Calibri"/>
              </a:rPr>
              <a:t>the API bill stays in the low hundreds of dollars per month. The investment is people-time (engineering + SME workshops) — which also produces the documentation-debt roadmap as a side effect.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104281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▪  </a:t>
            </a:r>
            <a:r>
              <a:rPr sz="1600" b="1">
                <a:solidFill>
                  <a:srgbClr val="0B0B0B"/>
                </a:solidFill>
                <a:latin typeface="Calibri"/>
              </a:rPr>
              <a:t>Approve Phase 1 </a:t>
            </a:r>
            <a:r>
              <a:rPr sz="1600" b="0">
                <a:solidFill>
                  <a:srgbClr val="0B0B0B"/>
                </a:solidFill>
                <a:latin typeface="Calibri"/>
              </a:rPr>
              <a:t>(6–8 weeks, ~1 engineer + SME time) to scale the proven pilot into a full Functional Knowledge Base.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▪  </a:t>
            </a:r>
            <a:r>
              <a:rPr sz="1600" b="1">
                <a:solidFill>
                  <a:srgbClr val="0B0B0B"/>
                </a:solidFill>
                <a:latin typeface="Calibri"/>
              </a:rPr>
              <a:t>Kick off now: </a:t>
            </a:r>
            <a:r>
              <a:rPr sz="1600" b="0">
                <a:solidFill>
                  <a:srgbClr val="0B0B0B"/>
                </a:solidFill>
                <a:latin typeface="Calibri"/>
              </a:rPr>
              <a:t>book the Feature/Module taxonomy workshop (the critical path), enumerate the Wiki/Jira corpus, and start Jira bulk-ingestion.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▪  </a:t>
            </a:r>
            <a:r>
              <a:rPr sz="1600" b="1">
                <a:solidFill>
                  <a:srgbClr val="0B0B0B"/>
                </a:solidFill>
                <a:latin typeface="Calibri"/>
              </a:rPr>
              <a:t>Expected outcome: </a:t>
            </a:r>
            <a:r>
              <a:rPr sz="1600" b="0">
                <a:solidFill>
                  <a:srgbClr val="0B0B0B"/>
                </a:solidFill>
                <a:latin typeface="Calibri"/>
              </a:rPr>
              <a:t>broad functional Q&amp;A with citations across all modules, a measured quality baseline — and the data foundation for upgrade impact assessment.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70916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4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892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00" b="1">
                <a:solidFill>
                  <a:srgbClr val="104281"/>
                </a:solidFill>
                <a:latin typeface="Calibri"/>
              </a:rPr>
              <a:t>The pilot already delivers: </a:t>
            </a:r>
            <a:r>
              <a:rPr sz="1600" b="0">
                <a:solidFill>
                  <a:srgbClr val="0B0B0B"/>
                </a:solidFill>
                <a:latin typeface="Calibri"/>
              </a:rPr>
              <a:t>27/27 correct, 100% cited, SME-approved. Phase 1 just turns that proven pattern on for every module.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Thank you — questions &amp; discussion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