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20116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5200" b="1" i="0">
                <a:solidFill>
                  <a:srgbClr val="FFFFFF"/>
                </a:solidFill>
                <a:latin typeface="Calibri"/>
              </a:rPr>
              <a:t>Sonata Knowledge Assistant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D5E1F3"/>
                </a:solidFill>
                <a:latin typeface="Calibri"/>
              </a:rPr>
              <a:t>From POC to Production: The Full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EB6834"/>
                </a:solidFill>
                <a:latin typeface="Calibri"/>
              </a:rPr>
              <a:t>5 phases · Citation-grounded AI · Read-only foundation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4281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Sonata knowledge fragmented across 4 systems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No unified query layer — answering functional questions requires manual SME cross-referencing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Upgrade assessments take 2–3 days per client (vs. 1 hour with the assistant)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Bottleneck: same ~5 senior engineers field every functional question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4281"/>
                </a:solidFill>
                <a:latin typeface="Calibri"/>
              </a:rPr>
              <a:t>Phase 0: POC — </a:t>
            </a:r>
            <a:r>
              <a:rPr sz="2800" b="1" i="0">
                <a:solidFill>
                  <a:srgbClr val="0CA30C"/>
                </a:solidFill>
                <a:latin typeface="Calibri"/>
              </a:rPr>
              <a:t>✓ COMPLETE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E4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8463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Single feature (searchEmployer pagination)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20–30 curated test questions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Proof: ingest → index → retrieve → cite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Cost: ~$0.11/question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8463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27/27 correct (100%)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100% accurate citations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SME Pratigya: sign-off obtained ✓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Ready to scale to all modules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4281"/>
                </a:solidFill>
                <a:latin typeface="Calibri"/>
              </a:rPr>
              <a:t>Phase 1: Functional Knowledge Base (Chat)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8463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All Wiki spaces (design, arch, specs)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All Jira projects (stories, defects)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Feature/Module taxonomy (SME workshop)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Multi-turn chat 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Delivers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8463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Answer functional Q&amp;A across all modules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100+ test questions (≥80% correct)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Feedback signal (up/down votes)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Timeline: 6–8 weeks (1 eng + SME)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4281"/>
                </a:solidFill>
                <a:latin typeface="Calibri"/>
              </a:rPr>
              <a:t>Phase 2: Code + Test Layer (Bitbucket + X-ray)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E4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New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48463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Bitbucket PR metadata (modules, merge date)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X-ray test cases + history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Entity graph: Wiki ↔ Jira ↔ PR ↔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Enables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8463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"What test coverage for feature X?"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Change traceability: feature → code → tests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Data foundation for Phase 3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FFFFFF"/>
                </a:solidFill>
                <a:latin typeface="Calibri"/>
              </a:rPr>
              <a:t>Timeline: ~6 weeks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4281"/>
                </a:solidFill>
                <a:latin typeface="Calibri"/>
              </a:rPr>
              <a:t>Phase 3: Upgrade Impact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4846320" cy="36576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Given: client, from_version, to_version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B0B0B"/>
                </a:solidFill>
                <a:latin typeface="Calibri"/>
              </a:rPr>
              <a:t>
</a:t>
            </a:r>
          </a:p>
          <a:p>
            <a:pPr algn="l">
              <a:spcAft>
                <a:spcPts val="10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Generate: what changed, what's relevant, what's risky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B0B0B"/>
                </a:solidFill>
                <a:latin typeface="Calibri"/>
              </a:rPr>
              <a:t>
</a:t>
            </a:r>
          </a:p>
          <a:p>
            <a:pPr algn="l">
              <a:spcAft>
                <a:spcPts val="100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Output: draft report for human sign-off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B0B0B"/>
                </a:solidFill>
                <a:latin typeface="Calibri"/>
              </a:rPr>
              <a:t>
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B0B0B"/>
                </a:solidFill>
                <a:latin typeface="Calibri"/>
              </a:rPr>
              <a:t>Impact: 2–3 days → 1 hour per 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E4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84632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B0B0B"/>
                </a:solidFill>
                <a:latin typeface="Calibri"/>
              </a:rPr>
              <a:t>New Pieces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846320" cy="3749039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Client profile data (version, modules used)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Risk/impact scoring model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Version-diff engine (what changed)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Word/PDF export for client hand-off</a:t>
            </a:r>
          </a:p>
          <a:p>
            <a:pPr>
              <a:spcAft>
                <a:spcPts val="1000"/>
              </a:spcAft>
            </a:pPr>
            <a:r>
              <a:rPr sz="1150" b="0">
                <a:solidFill>
                  <a:srgbClr val="0B0B0B"/>
                </a:solidFill>
                <a:latin typeface="Calibri"/>
              </a:rPr>
              <a:t>Timeline: ~8 weeks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4281"/>
                </a:solidFill>
                <a:latin typeface="Calibri"/>
              </a:rPr>
              <a:t>Phase 4: Voice Interface + Full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32004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4281"/>
                </a:solidFill>
                <a:latin typeface="Calibri"/>
              </a:rPr>
              <a:t>Phase 4: 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STT input + TTS output · Response formatting (spoken sentences, natural numbers) · Opt-in per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520440"/>
            <a:ext cx="10607040" cy="91440"/>
          </a:xfrm>
          <a:prstGeom prst="rect">
            <a:avLst/>
          </a:prstGeom>
          <a:solidFill>
            <a:srgbClr val="1042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3611880"/>
            <a:ext cx="1005840" cy="411480"/>
          </a:xfrm>
          <a:prstGeom prst="roundRect">
            <a:avLst>
              <a:gd name="adj" fmla="val 10000"/>
            </a:avLst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75887"/>
            <a:ext cx="1005840" cy="32004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B0B0B"/>
                </a:solidFill>
                <a:latin typeface="Calibri"/>
              </a:rPr>
              <a:t>P0 ✓
3–4w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611880"/>
            <a:ext cx="1188720" cy="411480"/>
          </a:xfrm>
          <a:prstGeom prst="roundRect">
            <a:avLst>
              <a:gd name="adj" fmla="val 10000"/>
            </a:avLst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675887"/>
            <a:ext cx="1188720" cy="32004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B0B0B"/>
                </a:solidFill>
                <a:latin typeface="Calibri"/>
              </a:rPr>
              <a:t>P1
6–8w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3611880"/>
            <a:ext cx="914400" cy="411480"/>
          </a:xfrm>
          <a:prstGeom prst="roundRect">
            <a:avLst>
              <a:gd name="adj" fmla="val 10000"/>
            </a:avLst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3675887"/>
            <a:ext cx="914400" cy="32004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B0B0B"/>
                </a:solidFill>
                <a:latin typeface="Calibri"/>
              </a:rPr>
              <a:t>P2
6w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611880"/>
            <a:ext cx="1097280" cy="41148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3675887"/>
            <a:ext cx="1097280" cy="32004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P3
8w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611880"/>
            <a:ext cx="731520" cy="411480"/>
          </a:xfrm>
          <a:prstGeom prst="roundRect">
            <a:avLst>
              <a:gd name="adj" fmla="val 1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3675887"/>
            <a:ext cx="731520" cy="32004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0B0B0B"/>
                </a:solidFill>
                <a:latin typeface="Calibri"/>
              </a:rPr>
              <a:t>P4
4w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10972800" cy="27432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04281"/>
                </a:solidFill>
                <a:latin typeface="Calibri"/>
              </a:rPr>
              <a:t>Effort per phase (indicative)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10972800" cy="210312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0B0B0B"/>
                </a:solidFill>
                <a:latin typeface="Calibri"/>
              </a:rPr>
              <a:t>P1: 1 eng + SME (long pole: taxonomy workshop) · P2: 1 eng · P3: 1–2 engs + domain experts · P4: 0.5 eng (parallelizable)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4281"/>
                </a:solidFill>
                <a:latin typeface="Calibri"/>
              </a:rPr>
              <a:t>Business Value at Each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39"/>
            <a:ext cx="10607040" cy="868680"/>
          </a:xfrm>
          <a:prstGeom prst="roundRect">
            <a:avLst>
              <a:gd name="adj" fmla="val 10000"/>
            </a:avLst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56032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828800"/>
            <a:ext cx="777240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Support/QA/BA can self-serve answers → fewer SME escalations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10607040" cy="868680"/>
          </a:xfrm>
          <a:prstGeom prst="roundRect">
            <a:avLst>
              <a:gd name="adj" fmla="val 10000"/>
            </a:avLst>
          </a:prstGeom>
          <a:solidFill>
            <a:srgbClr val="EDA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256032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B0B0B"/>
                </a:solidFill>
                <a:latin typeface="Calibri"/>
              </a:rP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834640"/>
            <a:ext cx="777240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0B0B0B"/>
                </a:solidFill>
                <a:latin typeface="Calibri"/>
              </a:rPr>
              <a:t>Answer technical questions about code changes &amp; test coverage → safer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03320"/>
            <a:ext cx="10607040" cy="86868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840479"/>
            <a:ext cx="256032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840479"/>
            <a:ext cx="777240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Assessment: 2–3 days → 1 hour per client → 10–15 clients/year unblocked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709159"/>
            <a:ext cx="10607040" cy="868680"/>
          </a:xfrm>
          <a:prstGeom prst="roundRect">
            <a:avLst>
              <a:gd name="adj" fmla="val 1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46319"/>
            <a:ext cx="256032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846319"/>
            <a:ext cx="7772400" cy="6858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Voice option for field/mobile: hands-free Q&amp;A on client calls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4281"/>
                </a:solidFill>
                <a:latin typeface="Calibri"/>
              </a:rPr>
              <a:t>Key Dependencies &amp;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972800" cy="256032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Phase 1 → 3: Feature/Module taxonomy (SME workshop) is the </a:t>
            </a:r>
            <a:r>
              <a:rPr sz="1200" b="1">
                <a:solidFill>
                  <a:srgbClr val="0B0B0B"/>
                </a:solidFill>
                <a:latin typeface="Calibri"/>
              </a:rPr>
              <a:t>long pole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Client profile data (Phase 3): doesn't exist cleanly — requires interviews or config review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Wiki/Jira quality uneven — Phase 1 surfaces documentation debt</a:t>
            </a:r>
          </a:p>
          <a:p>
            <a:pPr>
              <a:spcAft>
                <a:spcPts val="1000"/>
              </a:spcAft>
            </a:pPr>
            <a:r>
              <a:rPr sz="1200" b="0">
                <a:solidFill>
                  <a:srgbClr val="0B0B0B"/>
                </a:solidFill>
                <a:latin typeface="Calibri"/>
              </a:rPr>
              <a:t>Version-to-trunk mapping: must validate fixVersion accuracy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434840"/>
            <a:ext cx="10607040" cy="2194560"/>
          </a:xfrm>
          <a:prstGeom prst="roundRect">
            <a:avLst>
              <a:gd name="adj" fmla="val 10000"/>
            </a:avLst>
          </a:prstGeom>
          <a:solidFill>
            <a:srgbClr val="E4E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617720"/>
            <a:ext cx="10241280" cy="3657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04281"/>
                </a:solidFill>
                <a:latin typeface="Calibri"/>
              </a:rPr>
              <a:t>Mitigation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74920"/>
            <a:ext cx="10241280" cy="146304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Make escalation / "I don't know" cheap &amp; explicit (not a failure — a feature)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Surface last-updated dates on every citation (flag stale content)</a:t>
            </a:r>
          </a:p>
          <a:p>
            <a:pPr>
              <a:spcAft>
                <a:spcPts val="1000"/>
              </a:spcAft>
            </a:pPr>
            <a:r>
              <a:rPr sz="1100" b="0">
                <a:solidFill>
                  <a:srgbClr val="0B0B0B"/>
                </a:solidFill>
                <a:latin typeface="Calibri"/>
              </a:rPr>
              <a:t>Documentation-debt backlog is valid Phase 1 output (drives wiki improvements)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4281"/>
          </a:solidFill>
          <a:ln w="1905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45720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4281"/>
                </a:solidFill>
                <a:latin typeface="Calibri"/>
              </a:rPr>
              <a:t>Next Steps: Phase 1 Kickoff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256032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Book the Feature/Module taxonomy workshop (the critical path item)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Enumerate all Wiki spaces + Jira projects for full ingestion scope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Build Jira bulk-ingestion script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0B0B0B"/>
                </a:solidFill>
                <a:latin typeface="Calibri"/>
              </a:rPr>
              <a:t>Apply cost-optimization levers (validated on Phase 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572000"/>
            <a:ext cx="10607040" cy="2011680"/>
          </a:xfrm>
          <a:prstGeom prst="roundRect">
            <a:avLst>
              <a:gd name="adj" fmla="val 10000"/>
            </a:avLst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754880"/>
            <a:ext cx="10241280" cy="36576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57800"/>
            <a:ext cx="10241280" cy="1188720"/>
          </a:xfrm>
          <a:prstGeom prst="rect">
            <a:avLst/>
          </a:prstGeom>
          <a:noFill/>
        </p:spPr>
        <p:txBody>
          <a:bodyPr wrap="square" bIns="73152" t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Phase 0 proved it works: 27/27 correct, 100% cited. Phase 1 just turns that proven pattern on for every module. From there, Phases 2–4 unlock client-facing upgrade assessment.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